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נתוני הפק"ל של אוגדה 210. לאמת מספרים סופיים מול רז לפני הפגישה.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להזכיר: אפשר לשאול את סדן בכל מסך 'מה אני רואה?' — היא מסבירה. אם מואטי הולך לאיבוד — זה הפיצ'ר.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פלוגתי אחד.</a:t>
            </a:r>
            <a:endParaRPr lang="he-IL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חודשיים של תיאומים.</a:t>
            </a:r>
            <a:endParaRPr lang="he-IL" sz="4400" dirty="0"/>
          </a:p>
        </p:txBody>
      </p:sp>
      <p:sp>
        <p:nvSpPr>
          <p:cNvPr id="5" name="Shape 3"/>
          <p:cNvSpPr/>
          <p:nvPr/>
        </p:nvSpPr>
        <p:spPr>
          <a:xfrm>
            <a:off x="8151876" y="306324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51876" y="3246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he-IL" sz="6000" dirty="0"/>
          </a:p>
        </p:txBody>
      </p:sp>
      <p:sp>
        <p:nvSpPr>
          <p:cNvPr id="7" name="Text 5"/>
          <p:cNvSpPr/>
          <p:nvPr/>
        </p:nvSpPr>
        <p:spPr>
          <a:xfrm>
            <a:off x="8334756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מהנחיה ועד אימון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4448556" y="306324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8556" y="3246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</a:t>
            </a:r>
            <a:endParaRPr lang="he-IL" sz="6000" dirty="0"/>
          </a:p>
        </p:txBody>
      </p:sp>
      <p:sp>
        <p:nvSpPr>
          <p:cNvPr id="10" name="Text 8"/>
          <p:cNvSpPr/>
          <p:nvPr/>
        </p:nvSpPr>
        <p:spPr>
          <a:xfrm>
            <a:off x="4631436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גורמי תיאום לכל תרגיל</a:t>
            </a:r>
            <a:endParaRPr lang="he-IL" sz="1500" dirty="0"/>
          </a:p>
        </p:txBody>
      </p:sp>
      <p:sp>
        <p:nvSpPr>
          <p:cNvPr id="11" name="Shape 9"/>
          <p:cNvSpPr/>
          <p:nvPr/>
        </p:nvSpPr>
        <p:spPr>
          <a:xfrm>
            <a:off x="745236" y="306324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" y="3246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60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6000" dirty="0"/>
          </a:p>
        </p:txBody>
      </p:sp>
      <p:sp>
        <p:nvSpPr>
          <p:cNvPr id="13" name="Text 11"/>
          <p:cNvSpPr/>
          <p:nvPr/>
        </p:nvSpPr>
        <p:spPr>
          <a:xfrm>
            <a:off x="928116" y="4297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ישיבות תיאום בדרך</a:t>
            </a:r>
            <a:endParaRPr lang="he-IL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0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וכל זה — בטלפונים, בוואטסאפ ובטפסים.</a:t>
            </a:r>
            <a:endParaRPr lang="he-IL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גנרל על הכתף — וכל המטה מאחוריו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6336792" y="178308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56832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שותף מבצעי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6656832" y="2651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המלצת מתווים מדורגת — עם נימוק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עמדות רתק וכיסוי על שטח שולט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ירי, מחסנית בטיחות, דו״צ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הזדמנויות שת״פ בגזרה</a:t>
            </a:r>
            <a:endParaRPr lang="he-IL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מעטפת מלאה</a:t>
            </a:r>
            <a:endParaRPr lang="he-IL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רפואה ופינוי — רכוב ואווירי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תחמושת ואמל״ח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לוגיסטיקה: מזון, לינה, הובלה</a:t>
            </a:r>
            <a:endParaRPr lang="he-IL" sz="1600" dirty="0"/>
          </a:p>
          <a:p>
            <a:pPr rtl="1" algn="r" marL="177800" indent="-177800">
              <a:spcAft>
                <a:spcPts val="10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התיאומים — עד האישור הסופי</a:t>
            </a:r>
            <a:endParaRPr lang="he-IL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9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המערכות הקיימות מתאמות בירוקרטיה. אף אחת לא עוזרת למפקד לבנות את התרגיל עצמו — עד היום.</a:t>
            </a:r>
            <a:endParaRPr lang="he-IL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9432036" y="1965960"/>
            <a:ext cx="1005840" cy="100584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5" name="Text 3"/>
          <p:cNvSpPr/>
          <p:nvPr/>
        </p:nvSpPr>
        <p:spPr>
          <a:xfrm>
            <a:off x="9432036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he-IL" sz="3400" dirty="0"/>
          </a:p>
        </p:txBody>
      </p:sp>
      <p:sp>
        <p:nvSpPr>
          <p:cNvPr id="6" name="Text 4"/>
          <p:cNvSpPr/>
          <p:nvPr/>
        </p:nvSpPr>
        <p:spPr>
          <a:xfrm>
            <a:off x="8243316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שטח</a:t>
            </a:r>
            <a:endParaRPr lang="he-IL" sz="2200" dirty="0"/>
          </a:p>
        </p:txBody>
      </p:sp>
      <p:sp>
        <p:nvSpPr>
          <p:cNvPr id="7" name="Text 5"/>
          <p:cNvSpPr/>
          <p:nvPr/>
        </p:nvSpPr>
        <p:spPr>
          <a:xfrm>
            <a:off x="8471916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מפה חכמה: זמינות, מגבלות והמלצת סדן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9" name="Text 7"/>
          <p:cNvSpPr/>
          <p:nvPr/>
        </p:nvSpPr>
        <p:spPr>
          <a:xfrm>
            <a:off x="5591556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3400" dirty="0"/>
          </a:p>
        </p:txBody>
      </p:sp>
      <p:sp>
        <p:nvSpPr>
          <p:cNvPr id="10" name="Text 8"/>
          <p:cNvSpPr/>
          <p:nvPr/>
        </p:nvSpPr>
        <p:spPr>
          <a:xfrm>
            <a:off x="4402836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מגדירים תרגיל</a:t>
            </a:r>
            <a:endParaRPr lang="he-IL" sz="2200" dirty="0"/>
          </a:p>
        </p:txBody>
      </p:sp>
      <p:sp>
        <p:nvSpPr>
          <p:cNvPr id="11" name="Text 9"/>
          <p:cNvSpPr/>
          <p:nvPr/>
        </p:nvSpPr>
        <p:spPr>
          <a:xfrm>
            <a:off x="4631436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בשיחה טבעית. סדן בונה מתווים ותיק מלא</a:t>
            </a:r>
            <a:endParaRPr lang="he-IL" sz="1500" dirty="0"/>
          </a:p>
        </p:txBody>
      </p:sp>
      <p:sp>
        <p:nvSpPr>
          <p:cNvPr id="12" name="Shape 10"/>
          <p:cNvSpPr/>
          <p:nvPr/>
        </p:nvSpPr>
        <p:spPr>
          <a:xfrm>
            <a:off x="1751076" y="1965960"/>
            <a:ext cx="1005840" cy="100584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13" name="Text 11"/>
          <p:cNvSpPr/>
          <p:nvPr/>
        </p:nvSpPr>
        <p:spPr>
          <a:xfrm>
            <a:off x="1751076" y="1965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3400" dirty="0"/>
          </a:p>
        </p:txBody>
      </p:sp>
      <p:sp>
        <p:nvSpPr>
          <p:cNvPr id="14" name="Text 12"/>
          <p:cNvSpPr/>
          <p:nvPr/>
        </p:nvSpPr>
        <p:spPr>
          <a:xfrm>
            <a:off x="562356" y="3200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2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מתאמת</a:t>
            </a:r>
            <a:endParaRPr lang="he-IL" sz="2200" dirty="0"/>
          </a:p>
        </p:txBody>
      </p:sp>
      <p:sp>
        <p:nvSpPr>
          <p:cNvPr id="15" name="Text 13"/>
          <p:cNvSpPr/>
          <p:nvPr/>
        </p:nvSpPr>
        <p:spPr>
          <a:xfrm>
            <a:off x="790956" y="3794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מפיצה לגורמים, רודפת אחרי אישורים, מחזירה אישור סופי</a:t>
            </a:r>
            <a:endParaRPr lang="he-IL" sz="1500" dirty="0"/>
          </a:p>
        </p:txBody>
      </p:sp>
      <p:sp>
        <p:nvSpPr>
          <p:cNvPr id="16" name="Text 14"/>
          <p:cNvSpPr/>
          <p:nvPr/>
        </p:nvSpPr>
        <p:spPr>
          <a:xfrm>
            <a:off x="3552444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he-IL" sz="3000" dirty="0"/>
          </a:p>
        </p:txBody>
      </p:sp>
      <p:sp>
        <p:nvSpPr>
          <p:cNvPr id="17" name="Text 15"/>
          <p:cNvSpPr/>
          <p:nvPr/>
        </p:nvSpPr>
        <p:spPr>
          <a:xfrm>
            <a:off x="7392924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000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he-IL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המפקד מחליט — סדן עושה את השאר.</a:t>
            </a:r>
            <a:endParaRPr lang="he-IL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תראו עכשיו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9765792" y="214884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65792" y="2148840"/>
            <a:ext cx="2057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כניסה בקול</a:t>
            </a:r>
            <a:endParaRPr lang="he-IL" sz="1500" dirty="0"/>
          </a:p>
        </p:txBody>
      </p:sp>
      <p:sp>
        <p:nvSpPr>
          <p:cNvPr id="6" name="Shape 4"/>
          <p:cNvSpPr/>
          <p:nvPr/>
        </p:nvSpPr>
        <p:spPr>
          <a:xfrm>
            <a:off x="7415784" y="214884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15784" y="2148840"/>
            <a:ext cx="2057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מפה תלת-ממדית</a:t>
            </a:r>
            <a:endParaRPr lang="he-IL" sz="1500" dirty="0"/>
          </a:p>
        </p:txBody>
      </p:sp>
      <p:sp>
        <p:nvSpPr>
          <p:cNvPr id="8" name="Shape 6"/>
          <p:cNvSpPr/>
          <p:nvPr/>
        </p:nvSpPr>
        <p:spPr>
          <a:xfrm>
            <a:off x="5065776" y="214884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65776" y="2148840"/>
            <a:ext cx="2057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הגדרה בדיבור</a:t>
            </a:r>
            <a:endParaRPr lang="he-IL" sz="1500" dirty="0"/>
          </a:p>
        </p:txBody>
      </p:sp>
      <p:sp>
        <p:nvSpPr>
          <p:cNvPr id="10" name="Shape 8"/>
          <p:cNvSpPr/>
          <p:nvPr/>
        </p:nvSpPr>
        <p:spPr>
          <a:xfrm>
            <a:off x="2715768" y="214884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2148840"/>
            <a:ext cx="2057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מתווים + תיק</a:t>
            </a:r>
            <a:endParaRPr lang="he-IL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057400" cy="960120"/>
          </a:xfrm>
          <a:prstGeom prst="roundRect">
            <a:avLst>
              <a:gd name="adj" fmla="val 9524"/>
            </a:avLst>
          </a:prstGeom>
          <a:solidFill>
            <a:srgbClr val="C6953B"/>
          </a:solidFill>
          <a:ln w="12700">
            <a:solidFill>
              <a:srgbClr val="C695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20574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rtl="1" algn="ctr" indent="0" marL="0">
              <a:buNone/>
            </a:pPr>
            <a:r>
              <a:rPr lang="he-IL" altLang="en-US" sz="15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השיחה 📞</a:t>
            </a:r>
            <a:endParaRPr lang="he-IL" sz="1500" dirty="0"/>
          </a:p>
        </p:txBody>
      </p:sp>
      <p:sp>
        <p:nvSpPr>
          <p:cNvPr id="14" name="Shape 12"/>
          <p:cNvSpPr/>
          <p:nvPr/>
        </p:nvSpPr>
        <p:spPr>
          <a:xfrm>
            <a:off x="2194560" y="384048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3840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המפקד בנייד — והחמ״ל על הקיר רואה הכל בזמן אמת</a:t>
            </a:r>
            <a:endParaRPr lang="he-IL" sz="1800" dirty="0"/>
          </a:p>
        </p:txBody>
      </p:sp>
      <p:sp>
        <p:nvSpPr>
          <p:cNvPr id="16" name="Shape 14"/>
          <p:cNvSpPr/>
          <p:nvPr/>
        </p:nvSpPr>
        <p:spPr>
          <a:xfrm>
            <a:off x="2194560" y="489204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1A2E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4892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ובסוף — הטלפון יצלצל כאן בחדר.</a:t>
            </a:r>
            <a:endParaRPr lang="he-IL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אמיתי — ומה מדומה בכוונה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6336792" y="178308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56832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אמיתי</a:t>
            </a:r>
            <a:endParaRPr lang="he-IL" sz="2200" dirty="0"/>
          </a:p>
        </p:txBody>
      </p:sp>
      <p:sp>
        <p:nvSpPr>
          <p:cNvPr id="6" name="Text 4"/>
          <p:cNvSpPr/>
          <p:nvPr/>
        </p:nvSpPr>
        <p:spPr>
          <a:xfrm>
            <a:off x="6656832" y="26517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שיחה חיה עם סדן — בינה מלאכותית אמיתית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שיחת הטלפון — קו אמיתי, אישור בקול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וואטסאפ — הודעות אמיתיות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המפה והטופוגרפיה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זיהוי הדובר — טביעת קול</a:t>
            </a:r>
            <a:endParaRPr lang="he-IL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5875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200" b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מדומה — בכוונה</a:t>
            </a:r>
            <a:endParaRPr lang="he-IL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נתוני שטחים ותרגילים — סינתטיים. אפס מידע מסווג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החיבור לקרקע בטוחה ומאור — סימולציה</a:t>
            </a:r>
            <a:endParaRPr lang="he-IL" sz="1500" dirty="0"/>
          </a:p>
          <a:p>
            <a:pPr rtl="1" algn="r" indent="0" marL="0">
              <a:spcAft>
                <a:spcPts val="900"/>
              </a:spcAft>
              <a:buNone/>
            </a:pPr>
            <a:r>
              <a:rPr lang="he-IL" altLang="en-US" sz="15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הנמקות מבצעיות — נכתבו ואומתו ע״י מומחה תוכן</a:t>
            </a:r>
            <a:endParaRPr lang="he-IL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הטכנולוגיה אמיתית. הנתונים מחכים לצה״ל.</a:t>
            </a:r>
            <a:endParaRPr lang="he-IL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מדמו למוצר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9180576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C6953B"/>
          </a:solidFill>
          <a:ln w="12700">
            <a:solidFill>
              <a:srgbClr val="C695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80576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דמו</a:t>
            </a:r>
            <a:endParaRPr lang="he-IL" sz="2400" dirty="0"/>
          </a:p>
        </p:txBody>
      </p:sp>
      <p:sp>
        <p:nvSpPr>
          <p:cNvPr id="6" name="Text 4"/>
          <p:cNvSpPr/>
          <p:nvPr/>
        </p:nvSpPr>
        <p:spPr>
          <a:xfrm>
            <a:off x="9363456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הוכחת חוויה</a:t>
            </a:r>
            <a:endParaRPr lang="he-IL" sz="1400" dirty="0"/>
          </a:p>
        </p:txBody>
      </p:sp>
      <p:sp>
        <p:nvSpPr>
          <p:cNvPr id="7" name="Text 5"/>
          <p:cNvSpPr/>
          <p:nvPr/>
        </p:nvSpPr>
        <p:spPr>
          <a:xfrm>
            <a:off x="936345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כאן</a:t>
            </a:r>
            <a:endParaRPr lang="he-IL" sz="1100" dirty="0"/>
          </a:p>
        </p:txBody>
      </p:sp>
      <p:sp>
        <p:nvSpPr>
          <p:cNvPr id="8" name="Shape 6"/>
          <p:cNvSpPr/>
          <p:nvPr/>
        </p:nvSpPr>
        <p:spPr>
          <a:xfrm>
            <a:off x="6254496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4496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אפיון</a:t>
            </a:r>
            <a:endParaRPr lang="he-IL" sz="2400" dirty="0"/>
          </a:p>
        </p:txBody>
      </p:sp>
      <p:sp>
        <p:nvSpPr>
          <p:cNvPr id="10" name="Text 8"/>
          <p:cNvSpPr/>
          <p:nvPr/>
        </p:nvSpPr>
        <p:spPr>
          <a:xfrm>
            <a:off x="6437376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פרסונות, ראיונות קצינים, תעדוף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643737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מעבר: ראיונות מאומתים</a:t>
            </a:r>
            <a:endParaRPr lang="he-IL" sz="1100" dirty="0"/>
          </a:p>
        </p:txBody>
      </p:sp>
      <p:sp>
        <p:nvSpPr>
          <p:cNvPr id="12" name="Shape 10"/>
          <p:cNvSpPr/>
          <p:nvPr/>
        </p:nvSpPr>
        <p:spPr>
          <a:xfrm>
            <a:off x="3328416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בטא</a:t>
            </a:r>
            <a:endParaRPr lang="he-IL" sz="2400" dirty="0"/>
          </a:p>
        </p:txBody>
      </p:sp>
      <p:sp>
        <p:nvSpPr>
          <p:cNvPr id="14" name="Text 12"/>
          <p:cNvSpPr/>
          <p:nvPr/>
        </p:nvSpPr>
        <p:spPr>
          <a:xfrm>
            <a:off x="3511296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 מלא על נתונים סינתטיים</a:t>
            </a:r>
            <a:endParaRPr lang="he-IL" sz="1400" dirty="0"/>
          </a:p>
        </p:txBody>
      </p:sp>
      <p:sp>
        <p:nvSpPr>
          <p:cNvPr id="15" name="Text 13"/>
          <p:cNvSpPr/>
          <p:nvPr/>
        </p:nvSpPr>
        <p:spPr>
          <a:xfrm>
            <a:off x="351129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מעבר: מוכן להערכה צבאית</a:t>
            </a:r>
            <a:endParaRPr lang="he-IL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192024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פיילוט</a:t>
            </a:r>
            <a:endParaRPr lang="he-IL" sz="2400" dirty="0"/>
          </a:p>
        </p:txBody>
      </p:sp>
      <p:sp>
        <p:nvSpPr>
          <p:cNvPr id="18" name="Text 16"/>
          <p:cNvSpPr/>
          <p:nvPr/>
        </p:nvSpPr>
        <p:spPr>
          <a:xfrm>
            <a:off x="585216" y="27432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אמיתיים, יחידה אחת</a:t>
            </a:r>
            <a:endParaRPr lang="he-IL" sz="1400" dirty="0"/>
          </a:p>
        </p:txBody>
      </p:sp>
      <p:sp>
        <p:nvSpPr>
          <p:cNvPr id="19" name="Text 17"/>
          <p:cNvSpPr/>
          <p:nvPr/>
        </p:nvSpPr>
        <p:spPr>
          <a:xfrm>
            <a:off x="585216" y="3657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i="1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מעבר: אישור גורם מוסמך</a:t>
            </a:r>
            <a:endParaRPr lang="he-IL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היתכנות מודלים בסביבה מסווגת (נימבוס / מודלים פנימיים) — נבחנת בשלב האפיון</a:t>
            </a:r>
            <a:endParaRPr lang="he-IL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קצב מוכח: מה שלוקח חודשים — נבנה אצלנו בשבועות. הדמו הזה הוא ההוכחה.</a:t>
            </a:r>
            <a:endParaRPr lang="he-IL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סדן — מערכת תכנון ותיאום אימונים  </a:t>
            </a:r>
            <a:pPr rtl="1" algn="r" indent="0" marL="0">
              <a:buNone/>
            </a:pPr>
            <a:r>
              <a:rPr lang="he-IL" altLang="en-US" sz="12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SADAN</a:t>
            </a:r>
            <a:endParaRPr lang="he-IL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8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הצוות</a:t>
            </a:r>
            <a:endParaRPr lang="he-IL" sz="3800" dirty="0"/>
          </a:p>
        </p:txBody>
      </p:sp>
      <p:sp>
        <p:nvSpPr>
          <p:cNvPr id="4" name="Shape 2"/>
          <p:cNvSpPr/>
          <p:nvPr/>
        </p:nvSpPr>
        <p:spPr>
          <a:xfrm>
            <a:off x="10126980" y="2103120"/>
            <a:ext cx="1371600" cy="137160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5" name="Text 3"/>
          <p:cNvSpPr/>
          <p:nvPr/>
        </p:nvSpPr>
        <p:spPr>
          <a:xfrm>
            <a:off x="1012698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רז</a:t>
            </a:r>
            <a:endParaRPr lang="he-IL" sz="2400" dirty="0"/>
          </a:p>
        </p:txBody>
      </p:sp>
      <p:sp>
        <p:nvSpPr>
          <p:cNvPr id="6" name="Text 4"/>
          <p:cNvSpPr/>
          <p:nvPr/>
        </p:nvSpPr>
        <p:spPr>
          <a:xfrm>
            <a:off x="9669780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תוכן מבצעי ותו״ל</a:t>
            </a:r>
            <a:endParaRPr lang="he-IL" sz="1400" dirty="0"/>
          </a:p>
        </p:txBody>
      </p:sp>
      <p:sp>
        <p:nvSpPr>
          <p:cNvPr id="7" name="Shape 5"/>
          <p:cNvSpPr/>
          <p:nvPr/>
        </p:nvSpPr>
        <p:spPr>
          <a:xfrm>
            <a:off x="7767828" y="2103120"/>
            <a:ext cx="1371600" cy="137160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8" name="Text 6"/>
          <p:cNvSpPr/>
          <p:nvPr/>
        </p:nvSpPr>
        <p:spPr>
          <a:xfrm>
            <a:off x="7767828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</a:t>
            </a:r>
            <a:endParaRPr lang="he-IL" sz="2400" dirty="0"/>
          </a:p>
        </p:txBody>
      </p:sp>
      <p:sp>
        <p:nvSpPr>
          <p:cNvPr id="9" name="Text 7"/>
          <p:cNvSpPr/>
          <p:nvPr/>
        </p:nvSpPr>
        <p:spPr>
          <a:xfrm>
            <a:off x="7310628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טכנולוגיה ומוצר</a:t>
            </a:r>
            <a:endParaRPr lang="he-IL" sz="1400" dirty="0"/>
          </a:p>
        </p:txBody>
      </p:sp>
      <p:sp>
        <p:nvSpPr>
          <p:cNvPr id="10" name="Shape 8"/>
          <p:cNvSpPr/>
          <p:nvPr/>
        </p:nvSpPr>
        <p:spPr>
          <a:xfrm>
            <a:off x="5408676" y="2103120"/>
            <a:ext cx="1371600" cy="1371600"/>
          </a:xfrm>
          <a:prstGeom prst="ellipse">
            <a:avLst/>
          </a:prstGeom>
          <a:solidFill>
            <a:srgbClr val="C6953B"/>
          </a:solidFill>
          <a:ln/>
        </p:spPr>
      </p:sp>
      <p:sp>
        <p:nvSpPr>
          <p:cNvPr id="11" name="Text 9"/>
          <p:cNvSpPr/>
          <p:nvPr/>
        </p:nvSpPr>
        <p:spPr>
          <a:xfrm>
            <a:off x="5408676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400" b="1" dirty="0">
                <a:solidFill>
                  <a:srgbClr val="0C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ברומר</a:t>
            </a:r>
            <a:endParaRPr lang="he-IL" sz="2400" dirty="0"/>
          </a:p>
        </p:txBody>
      </p:sp>
      <p:sp>
        <p:nvSpPr>
          <p:cNvPr id="12" name="Text 10"/>
          <p:cNvSpPr/>
          <p:nvPr/>
        </p:nvSpPr>
        <p:spPr>
          <a:xfrm>
            <a:off x="4951476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E5E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קשרים ופיתוח עסקי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3049524" y="2103120"/>
            <a:ext cx="1371600" cy="1371600"/>
          </a:xfrm>
          <a:prstGeom prst="ellipse">
            <a:avLst/>
          </a:prstGeom>
          <a:solidFill>
            <a:srgbClr val="0C1117"/>
          </a:solidFill>
          <a:ln w="19050">
            <a:solidFill>
              <a:srgbClr val="C6953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049524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he-IL" sz="2800" dirty="0"/>
          </a:p>
        </p:txBody>
      </p:sp>
      <p:sp>
        <p:nvSpPr>
          <p:cNvPr id="15" name="Text 13"/>
          <p:cNvSpPr/>
          <p:nvPr/>
        </p:nvSpPr>
        <p:spPr>
          <a:xfrm>
            <a:off x="2592324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סמכות מקצועית בכירה</a:t>
            </a:r>
            <a:endParaRPr lang="he-IL" sz="1400" dirty="0"/>
          </a:p>
        </p:txBody>
      </p:sp>
      <p:sp>
        <p:nvSpPr>
          <p:cNvPr id="16" name="Shape 14"/>
          <p:cNvSpPr/>
          <p:nvPr/>
        </p:nvSpPr>
        <p:spPr>
          <a:xfrm>
            <a:off x="690372" y="2103120"/>
            <a:ext cx="1371600" cy="1371600"/>
          </a:xfrm>
          <a:prstGeom prst="ellipse">
            <a:avLst/>
          </a:prstGeom>
          <a:solidFill>
            <a:srgbClr val="0C1117"/>
          </a:solidFill>
          <a:ln w="19050">
            <a:solidFill>
              <a:srgbClr val="C6953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90372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8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he-IL" sz="2800" dirty="0"/>
          </a:p>
        </p:txBody>
      </p:sp>
      <p:sp>
        <p:nvSpPr>
          <p:cNvPr id="18" name="Text 16"/>
          <p:cNvSpPr/>
          <p:nvPr/>
        </p:nvSpPr>
        <p:spPr>
          <a:xfrm>
            <a:off x="233172" y="36576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דלת לצה״ל</a:t>
            </a:r>
            <a:endParaRPr lang="he-IL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2120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2600" b="1" dirty="0">
                <a:solidFill>
                  <a:srgbClr val="C69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הטכנולוגיה בשלה. התהליך מוגדר. השאלה — עם מי צועדים.</a:t>
            </a:r>
            <a:endParaRPr lang="he-IL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2026-07-12T20:21:25Z</dcterms:created>
  <dcterms:modified xsi:type="dcterms:W3CDTF">2026-07-12T20:21:25Z</dcterms:modified>
</cp:coreProperties>
</file>